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315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EXECUTIVE INVESTMENT &amp; ARCHITECTURE BRIEFING</a:t>
            </a:r>
          </a:p>
          <a:p>
            <a:pPr>
              <a:spcBef>
                <a:spcPts val="1000"/>
              </a:spcBef>
              <a:defRPr sz="3400" b="1">
                <a:solidFill>
                  <a:srgbClr val="FFFFFF"/>
                </a:solidFill>
              </a:defRPr>
            </a:pPr>
            <a:r>
              <a:t>ClarION: Regulatory Memory &amp; Assurance Platform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</a:defRPr>
            </a:pPr>
            <a:r>
              <a:t>A Deterministic-First Intelligence Engine for EU CTR 536/2014 Validation RFIs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Cutting 14,500+ Annual Work Hours • Saving $2.35M in Operational Overhead • De-Risking 10-Day CTIS SLAs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3328416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296265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14,500+ Hours Saved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Eliminates repetitive drafting across 650+ annual CTAs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5120640"/>
            <a:ext cx="3328416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5257800"/>
            <a:ext cx="296265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$2.35M Net Annual Value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4.2-month payback period with 487% 3-year 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5120640"/>
            <a:ext cx="3328416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5257800"/>
            <a:ext cx="296265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Zero Autonomous Risk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Deterministic policy gating &amp; mandatory human authorization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MARKET CONTEXT &amp; CLINICAL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Multi-Million Dollar Burden of EU CTR RFIs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Sponsors submit ~650 Clinical Trial Applications/year. Ad-hoc RFI firefighting drains thousands of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650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CTAs Submitted Annually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Across up to 30 EU/EEA Member States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78308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1,000+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RFIs Triggered Annually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Average 1.5–2 RFIs per trial dossier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78308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F4444"/>
                </a:solidFill>
              </a:defRPr>
            </a:pPr>
            <a:r>
              <a:t>20 Hours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Manual Effort Per RFI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Cross-functional triage, drafting &amp;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78308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$2.70M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Annual Manual Labor Cost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Burned on repetitive regulatory paperwork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34015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94436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[THE BLINDSPOT] Zero Institutional Memory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RFIs answered in isolated siloes across RA Clinical, Affiliates, and Biostats.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A question raised by Germany (BfArM) last month is re-researched from scratch by Spain (AEMPS) today.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Responses vanish into personal inboxes and local drives with no unified indexing.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Over 35% of incoming validation RFIs are recurring duplicates.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063240"/>
            <a:ext cx="34015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246120"/>
            <a:ext cx="294436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[THE CAPACITY DRAIN] High-Value Talent Squandered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Senior Regulatory Affairs managers spend 60%+ of their time doing clerical triage.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Medical writers and biostatisticians pulled from active pipeline protocols to answer basic administrative queries.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Cross-affiliate alignment takes days of email chains and emergency alignment calls.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High burnout rate among submission managers handling high-volume CTA waves.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063240"/>
            <a:ext cx="34015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246120"/>
            <a:ext cx="294436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[THE QUALITY THREAT] Compliance Inconsistency Risk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Inconsistent wording across different Member States invites regulatory skepticism.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No structured verification whether a drafted response has worked before.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High risk of contradictory statements between Phase I and Phase III submissions.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No audit-defensible proof linking draft responses to historical approvals.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REGULATORY MANDATES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10-Day Clock: Why Validation RFIs Threaten Pipeline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Under EU CTR 536/2014, validation response failure causes immediate application lapse.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EU CTR 536/2014 Regulatory Clockwork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■  Validation Stage (10 Days)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Sponsors have exactly 10 calendar days to resolve completeness issues (missing signatures, translation alignment, protocol clarifications).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■  Zero Extension Policy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CTIS operates on rigid automated countdowns. The clock cannot be paused. If Day 10 lapses without an approved response, the CTA is automatically deemed withdrawn.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■  Catastrophic Refiling Delay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 withdrawn CTA forces full resubmission, restarting review clocks across all Member States and pushing first-patient-in (FPI) dates by 3 to 6 months.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■  Commercial Cost of Trial Stall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In blockbuster therapeutic areas (e.g. GLP-1, Oncology), clinical trial delay costs $100K to $1M+ per day in delayed drug commercialization and patent exclusivity burn.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3095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7823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Cost of Human Triage vs. Automated Assurance</a:t>
            </a:r>
          </a:p>
          <a:p>
            <a:pPr>
              <a:spcBef>
                <a:spcPts val="1000"/>
              </a:spcBef>
              <a:defRPr sz="1100" b="1">
                <a:solidFill>
                  <a:srgbClr val="EF4444"/>
                </a:solidFill>
              </a:defRPr>
            </a:pPr>
            <a:r>
              <a:t>Current State: High-Risk Manual Race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Days 1–3: Email notifications bounce between affiliate &amp; global HQ.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Days 4–7: Document hunting and drafting across disparate Word files.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Days 8–9: Multi-layer executive sign-off in emergency rush mode.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Day 10: Submission under high stress; risk of missing the cutoff.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Outcome: 8–12% of submissions require panic overtime; close SLA calls.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With ClarION: Immediate Turnaround &amp; De-risking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Minute 1: Ingestion, schema validation &amp; instant semantic recall.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Hour 1: Pre-approved, historically successful responses surfaced.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Hour 3: RA Manager customizes pre-vetted draft with SHAP insights.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Day 1–2: Formal review through gated workflow; authorized &amp; submitted.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• Outcome: 100% on-time resolution; average turnaround cut to 2.5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THE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Introducing ClarION: Institutional Regulatory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centralized regulatory memory platform built specifically to eliminate repetitive RFI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CORE MISSION:  "Avoid Repetition. See Patterns."</a:t>
            </a:r>
          </a:p>
          <a:p>
            <a:pPr>
              <a:defRPr sz="1050">
                <a:solidFill>
                  <a:srgbClr val="DBEAFE"/>
                </a:solidFill>
              </a:defRPr>
            </a:pPr>
            <a:r>
              <a:t>ClarION transforms isolated RFI questions into an enterprise-wide asset, connecting past precedents with predictive risk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2523744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252374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2157984" cy="3383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Regulatory Memory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Centralized, structured repository combining PostgreSQL + pgvector and Neo4j. Converts unsearchable PDFs into instant, semantically queryable institutional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2651760"/>
            <a:ext cx="2523744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5576" y="2651760"/>
            <a:ext cx="252374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2880360"/>
            <a:ext cx="2157984" cy="3383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2. Predictive Quality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Gradient-boosted risk models with SHAP explainability that flag RFI vulnerabilities in draft dossiers before submission to health authorities.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651760"/>
            <a:ext cx="2523744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651760"/>
            <a:ext cx="2523744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880360"/>
            <a:ext cx="2157984" cy="3383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Trust &amp; Governance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Declarative OPA policy rules, cryptographic SHA-256 audit chaining, and a strictly enforced human authorization Submission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2651760"/>
            <a:ext cx="2523744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33688" y="2651760"/>
            <a:ext cx="252374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2880360"/>
            <a:ext cx="2157984" cy="3383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4. Team Enablement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Four role-tailored workspaces for RA Clinical, Affiliates, CTA Management, and EU Submission Hub to coordinate flawlessly.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SAFETY &amp; REGULATORY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Deterministic-First Philosophy: AI That Regulators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Why corporate leadership and GxP compliance auditors reject generic AI, and why ClarION is different.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77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THE CLARION GOVERNING AXIOM:</a:t>
            </a:r>
          </a:p>
          <a:p>
            <a:pPr>
              <a:spcBef>
                <a:spcPts val="300"/>
              </a:spcBef>
              <a:defRPr sz="1350" b="1">
                <a:solidFill>
                  <a:srgbClr val="FFFFFF"/>
                </a:solidFill>
              </a:defRPr>
            </a:pPr>
            <a:r>
              <a:t>“LLMs extract, explain, and suggest. Deterministic code and declarative policy verify and gate. Humans authorize.”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1663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4709160" cy="3383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[THE STATUS QUO TRAP] Generic 'AI Compliance Copilots' (High Risk)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Uncontrolled Generative AI: Hallucinates plausible-sounding regulatory guidance.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Black-Box Decisioning: Inability to justify why a suggestion was made to a health inspector.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Autonomous Submission Claims: Violates global regulatory expectations; GxP unviable.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Self-Policing LLMs: Prompts that ask the model to check itself fail OWASP LLM01 injection tests.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Unverified Data Residency: Sending proprietary clinical trial protocols to public cloud LLMs creates critical trade-secret leaks.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Corporate Rejection: Blocked by Legal, GxP QA, and Information Security.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697480"/>
            <a:ext cx="51663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880360"/>
            <a:ext cx="4709160" cy="3383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[THE CLARION STANDARD] ClarION's Deterministic-First Architecture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Strict Schema Validation: Ingestion validated by Pydantic v2 schemas; non-conforming PDFs quarantined immediately.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Declarative OPA Policy Engine: Mathematical verification of 10-day SLAs and data completeness via Open Policy Agent (Rego).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Explainable ML (SHAP): Risk probabilities explicitly decomposed into contributing features—never a naked probability.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Inviolable Submission Gate: Rule GATE-001 enforces that no response can be submitted without authenticated human sign-off.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Air-Gapped In-House Models: Fully deployable on private infrastructure (Qwen 2.5/Llama 3.1 via Ollama/vLLM) behind enterprise firewalls.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Audit Ready: Pre-aligned with EU GMP Annex 22 draft principles on AI oversight.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5-Step Value Engine: From Raw PDF to Governed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Every layer performs a distinct, audited role in transforming unstructured inquiries into approved submissions.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0116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2011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737360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Data Mesh Intake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PyMuPDF / pdfplumber extraction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Pydantic v2 schema validation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Deterministic Safety Gateway screening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Multi-tenant domain tagging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73736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2" y="1737360"/>
            <a:ext cx="201168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1810512"/>
            <a:ext cx="2011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240280"/>
            <a:ext cx="1737360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Knowledge Graph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Neo4j multi-relational graph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Shared consideration_id join key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Links MSC, Indication &amp; CTR Articles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Louvain community pattern clustering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73736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4064" y="1737360"/>
            <a:ext cx="20116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1810512"/>
            <a:ext cx="2011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240280"/>
            <a:ext cx="1737360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Pre-Submission Risk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Gradient boosting classifier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Evaluates draft dossier sections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SHAP explainability values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Pinpoints RFI exposure pre-filing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73736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0336" y="1737360"/>
            <a:ext cx="20116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1810512"/>
            <a:ext cx="2011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RECOMMEND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2240280"/>
            <a:ext cx="1737360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Outcome-Weighted Search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pgvector 384-dim similarity search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Neo4j structural graph context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Re-ranked by historical success score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Surfaces proven, accepted responses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173736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36608" y="1737360"/>
            <a:ext cx="201168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6608" y="1810512"/>
            <a:ext cx="2011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GOVERN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240280"/>
            <a:ext cx="1737360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Assurance &amp; Gate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Open Policy Agent (OPA) validation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Cryptographic SHA-256 audit log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9-Dimension Evidence Integrity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Human-only Submission Gate (GATE-001)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Under the Hood: Enterprise Hybrid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Leveraging the exact strengths of pgvector and Neo4j via the Retrieve-Then-Enrich pattern.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0916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Dual-Database Engineering Synergy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■  PostgreSQL + pgvector (Semantic Storage)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  • Mature, high-concurrency vector store (HNSW indexing).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  • Holds 384-dim embeddings from all-MiniLM-L6-v2.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  • Sub-millisecond similarity recall across tens of thousands of considerations.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  • Serves as the Single Source of Truth for core RFI state &amp; timestamps.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■  Neo4j AuraDB (Knowledge Graph &amp; Relationships)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  • Structural relationship topology: (:RFI)-[:SUBMITTED_TO]-&gt;(:MSC).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  • Indication &amp; CTR Article reference mapping.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  • Louvain community detection for systemic recurring issue clusters.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  • Centrality algorithms identifying regulatory 'hotspot' CTR articles.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■  The Shared Join-Key Contract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  • Both systems join on consideration_id: {rfi_id}-C{number}.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  • Zero lookups, zero ID translation layers, zero drift between databases.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91640"/>
            <a:ext cx="5166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920240"/>
            <a:ext cx="470916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Retrieve-Then-Enrich API Flow</a:t>
            </a:r>
          </a:p>
          <a:p>
            <a:pPr>
              <a:spcBef>
                <a:spcPts val="700"/>
              </a:spcBef>
              <a:defRPr sz="1050" b="1">
                <a:solidFill>
                  <a:srgbClr val="10B981"/>
                </a:solidFill>
              </a:defRPr>
            </a:pPr>
            <a:r>
              <a:t>▶  Step 1: Safety Screen</a:t>
            </a:r>
          </a:p>
          <a:p>
            <a:pPr>
              <a:spcBef>
                <a:spcPts val="100"/>
              </a:spcBef>
              <a:defRPr sz="900">
                <a:solidFill>
                  <a:srgbClr val="64748B"/>
                </a:solidFill>
              </a:defRPr>
            </a:pPr>
            <a:r>
              <a:t>Query text passes through regex and heuristic filter screening for prompt injection (OWASP LLM01).</a:t>
            </a:r>
          </a:p>
          <a:p>
            <a:pPr>
              <a:spcBef>
                <a:spcPts val="700"/>
              </a:spcBef>
              <a:defRPr sz="1050" b="1">
                <a:solidFill>
                  <a:srgbClr val="10B981"/>
                </a:solidFill>
              </a:defRPr>
            </a:pPr>
            <a:r>
              <a:t>▶  Step 2: Vector Similarity Recall (pgvector)</a:t>
            </a:r>
          </a:p>
          <a:p>
            <a:pPr>
              <a:spcBef>
                <a:spcPts val="100"/>
              </a:spcBef>
              <a:defRPr sz="900">
                <a:solidFill>
                  <a:srgbClr val="64748B"/>
                </a:solidFill>
              </a:defRPr>
            </a:pPr>
            <a:r>
              <a:t>Computes query embedding; queries consideration_embedding_idx to retrieve top-k matching consideration_ids.</a:t>
            </a:r>
          </a:p>
          <a:p>
            <a:pPr>
              <a:spcBef>
                <a:spcPts val="700"/>
              </a:spcBef>
              <a:defRPr sz="1050" b="1">
                <a:solidFill>
                  <a:srgbClr val="10B981"/>
                </a:solidFill>
              </a:defRPr>
            </a:pPr>
            <a:r>
              <a:t>▶  Step 3: Relational Graph Hydration (Neo4j)</a:t>
            </a:r>
          </a:p>
          <a:p>
            <a:pPr>
              <a:spcBef>
                <a:spcPts val="100"/>
              </a:spcBef>
              <a:defRPr sz="900">
                <a:solidFill>
                  <a:srgbClr val="64748B"/>
                </a:solidFill>
              </a:defRPr>
            </a:pPr>
            <a:r>
              <a:t>Fetches structural metadata in Cypher: Member State Concerned (MSC), Indication, CTR Article, and Cluster ID.</a:t>
            </a:r>
          </a:p>
          <a:p>
            <a:pPr>
              <a:spcBef>
                <a:spcPts val="700"/>
              </a:spcBef>
              <a:defRPr sz="1050" b="1">
                <a:solidFill>
                  <a:srgbClr val="10B981"/>
                </a:solidFill>
              </a:defRPr>
            </a:pPr>
            <a:r>
              <a:t>▶  Step 4: Outcome Re-Ranking (Score weighting)</a:t>
            </a:r>
          </a:p>
          <a:p>
            <a:pPr>
              <a:spcBef>
                <a:spcPts val="100"/>
              </a:spcBef>
              <a:defRPr sz="900">
                <a:solidFill>
                  <a:srgbClr val="64748B"/>
                </a:solidFill>
              </a:defRPr>
            </a:pPr>
            <a:r>
              <a:t>Combines semantic cosine score (60%) with historical acceptance success_score (40%) to elevate proven responses.</a:t>
            </a:r>
          </a:p>
          <a:p>
            <a:pPr>
              <a:spcBef>
                <a:spcPts val="700"/>
              </a:spcBef>
              <a:defRPr sz="1050" b="1">
                <a:solidFill>
                  <a:srgbClr val="10B981"/>
                </a:solidFill>
              </a:defRPr>
            </a:pPr>
            <a:r>
              <a:t>▶  Step 5: OPA Policy Verification</a:t>
            </a:r>
          </a:p>
          <a:p>
            <a:pPr>
              <a:spcBef>
                <a:spcPts val="100"/>
              </a:spcBef>
              <a:defRPr sz="900">
                <a:solidFill>
                  <a:srgbClr val="64748B"/>
                </a:solidFill>
              </a:defRPr>
            </a:pPr>
            <a:r>
              <a:t>Confirms requesting user has tenant permission to access historical records before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BUSINESS VALUE &amp; OPERATIONAL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Corporate Impact: Work Hours Saved &amp; Cost Reductions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Quantifiable business metrics based on an enterprise portfolio of ~650 CTAs and 1,000 RFIs/year.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1234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14,500+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Annual Hours Saved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72.5% reduction in drafting &amp; research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14600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78308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$1.95M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Direct Labor Savings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Calculated at $135/hr fully burdened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14600" cy="1234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78308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$400K+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External Vendor Savings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Avoided CRO triage &amp; rush legal translation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78308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$2.35M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Net Annual Corporate Value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Recurring operational savings year-on-year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51663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4709160" cy="3063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Workforce Efficiency &amp; Capacity Release</a:t>
            </a:r>
          </a:p>
          <a:p>
            <a:pPr>
              <a:spcBef>
                <a:spcPts val="500"/>
              </a:spcBef>
              <a:defRPr sz="1000" b="1">
                <a:solidFill>
                  <a:srgbClr val="2563EB"/>
                </a:solidFill>
              </a:defRPr>
            </a:pPr>
            <a:r>
              <a:t>•  Per-RFI Resolution Time: </a:t>
            </a:r>
            <a:r>
              <a:rPr b="0">
                <a:solidFill>
                  <a:srgbClr val="64748B"/>
                </a:solidFill>
              </a:rPr>
              <a:t>Dropped from 20.0 hours down to 5.5 hours average (72.5% decrease).</a:t>
            </a:r>
          </a:p>
          <a:p>
            <a:pPr>
              <a:spcBef>
                <a:spcPts val="500"/>
              </a:spcBef>
              <a:defRPr sz="1000" b="1">
                <a:solidFill>
                  <a:srgbClr val="2563EB"/>
                </a:solidFill>
              </a:defRPr>
            </a:pPr>
            <a:r>
              <a:t>•  FTE Capacity Reallocation: </a:t>
            </a:r>
            <a:r>
              <a:rPr b="0">
                <a:solidFill>
                  <a:srgbClr val="64748B"/>
                </a:solidFill>
              </a:rPr>
              <a:t>Unlocks 8.2 Full-Time Senior Regulatory Specialists from repetitive paperwork.</a:t>
            </a:r>
          </a:p>
          <a:p>
            <a:pPr>
              <a:spcBef>
                <a:spcPts val="500"/>
              </a:spcBef>
              <a:defRPr sz="1000" b="1">
                <a:solidFill>
                  <a:srgbClr val="2563EB"/>
                </a:solidFill>
              </a:defRPr>
            </a:pPr>
            <a:r>
              <a:t>•  Strategic Redeployment: </a:t>
            </a:r>
            <a:r>
              <a:rPr b="0">
                <a:solidFill>
                  <a:srgbClr val="64748B"/>
                </a:solidFill>
              </a:rPr>
              <a:t>Specialists redirected to accelerate IND filings, breakthrough designations, and global expansion.</a:t>
            </a:r>
          </a:p>
          <a:p>
            <a:pPr>
              <a:spcBef>
                <a:spcPts val="500"/>
              </a:spcBef>
              <a:defRPr sz="1000" b="1">
                <a:solidFill>
                  <a:srgbClr val="2563EB"/>
                </a:solidFill>
              </a:defRPr>
            </a:pPr>
            <a:r>
              <a:t>•  Turnaround Acceleration: </a:t>
            </a:r>
            <a:r>
              <a:rPr b="0">
                <a:solidFill>
                  <a:srgbClr val="64748B"/>
                </a:solidFill>
              </a:rPr>
              <a:t>Average response ready in 2.5 business days vs. 8.5 days previously—safely beating the 10-day cutoff.</a:t>
            </a:r>
          </a:p>
          <a:p>
            <a:pPr>
              <a:spcBef>
                <a:spcPts val="500"/>
              </a:spcBef>
              <a:defRPr sz="1000" b="1">
                <a:solidFill>
                  <a:srgbClr val="2563EB"/>
                </a:solidFill>
              </a:defRPr>
            </a:pPr>
            <a:r>
              <a:t>•  Onboarding Compression: </a:t>
            </a:r>
            <a:r>
              <a:rPr b="0">
                <a:solidFill>
                  <a:srgbClr val="64748B"/>
                </a:solidFill>
              </a:rPr>
              <a:t>New regulatory associates reach full drafting autonomy 60% faster via accessible precedent.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063240"/>
            <a:ext cx="51663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3246120"/>
            <a:ext cx="4709160" cy="3063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Catastrophic Risk &amp; Pipeline De-Risking</a:t>
            </a:r>
          </a:p>
          <a:p>
            <a:pPr>
              <a:spcBef>
                <a:spcPts val="500"/>
              </a:spcBef>
              <a:defRPr sz="1000" b="1">
                <a:solidFill>
                  <a:srgbClr val="10B981"/>
                </a:solidFill>
              </a:defRPr>
            </a:pPr>
            <a:r>
              <a:t>•  Zero 10-Day SLA Lapses: </a:t>
            </a:r>
            <a:r>
              <a:rPr b="0">
                <a:solidFill>
                  <a:srgbClr val="64748B"/>
                </a:solidFill>
              </a:rPr>
              <a:t>Eliminates the risk of CTIS automated withdrawal due to missed validation windows.</a:t>
            </a:r>
          </a:p>
          <a:p>
            <a:pPr>
              <a:spcBef>
                <a:spcPts val="500"/>
              </a:spcBef>
              <a:defRPr sz="1000" b="1">
                <a:solidFill>
                  <a:srgbClr val="10B981"/>
                </a:solidFill>
              </a:defRPr>
            </a:pPr>
            <a:r>
              <a:t>•  Re-Filing Avoidance ($250K+): </a:t>
            </a:r>
            <a:r>
              <a:rPr b="0">
                <a:solidFill>
                  <a:srgbClr val="64748B"/>
                </a:solidFill>
              </a:rPr>
              <a:t>Saves direct regulatory administrative fees and agency re-submission penalties.</a:t>
            </a:r>
          </a:p>
          <a:p>
            <a:pPr>
              <a:spcBef>
                <a:spcPts val="500"/>
              </a:spcBef>
              <a:defRPr sz="1000" b="1">
                <a:solidFill>
                  <a:srgbClr val="10B981"/>
                </a:solidFill>
              </a:defRPr>
            </a:pPr>
            <a:r>
              <a:t>•  Trial Launch Protection: </a:t>
            </a:r>
            <a:r>
              <a:rPr b="0">
                <a:solidFill>
                  <a:srgbClr val="64748B"/>
                </a:solidFill>
              </a:rPr>
              <a:t>Prevents 3-to-6-month clinical startup delays, safeguarding time-to-market patent exclusivity.</a:t>
            </a:r>
          </a:p>
          <a:p>
            <a:pPr>
              <a:spcBef>
                <a:spcPts val="500"/>
              </a:spcBef>
              <a:defRPr sz="1000" b="1">
                <a:solidFill>
                  <a:srgbClr val="10B981"/>
                </a:solidFill>
              </a:defRPr>
            </a:pPr>
            <a:r>
              <a:t>•  Multi-Country Consistency: </a:t>
            </a:r>
            <a:r>
              <a:rPr b="0">
                <a:solidFill>
                  <a:srgbClr val="64748B"/>
                </a:solidFill>
              </a:rPr>
              <a:t>Eliminates contradictory responses across EEA members, preventing regulatory audits.</a:t>
            </a:r>
          </a:p>
          <a:p>
            <a:pPr>
              <a:spcBef>
                <a:spcPts val="500"/>
              </a:spcBef>
              <a:defRPr sz="1000" b="1">
                <a:solidFill>
                  <a:srgbClr val="10B981"/>
                </a:solidFill>
              </a:defRPr>
            </a:pPr>
            <a:r>
              <a:t>•  CRO Margin Recovery: </a:t>
            </a:r>
            <a:r>
              <a:rPr b="0">
                <a:solidFill>
                  <a:srgbClr val="64748B"/>
                </a:solidFill>
              </a:rPr>
              <a:t>Eliminates emergency out-of-scope surcharges from Contract Research Organizations.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FINANCIAL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Financial Model: 4.2-Month Payback &amp; 487% 3-Year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Clear enterprise economics designed for CFO and Head of Clinical Development approval.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57607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Enterprise Investment vs. Cumulative Net Return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331720"/>
          <a:ext cx="58521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914400"/>
                <a:gridCol w="1005840"/>
              </a:tblGrid>
              <a:tr h="4963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Financial Metric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Year 1 (Rollout)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3-Yr Total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Implementation &amp; Infra Cost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$480,000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$140,000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$150,000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$770,000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Labor Hours Saved (hrs)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11,600 hrs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14,500 hrs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15,800 hrs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41,900 hrs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Direct Labor Value Saved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$1,566,000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$1,957,500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$2,133,000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$5,656,500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Avoided Vendor &amp; CRO Fees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$280,000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$400,000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$440,000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$1,120,000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Gross Operational Benefit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$1,846,000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$2,357,500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$2,573,000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$6,776,500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Net Annual Benefit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$1,366,000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$2,217,500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$2,423,000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$6,006,500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78040" y="1691640"/>
            <a:ext cx="4297680" cy="1371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82880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4.2 Months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Payback Period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Full recovery of initial implementation and infrastructure costs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3291840"/>
            <a:ext cx="429768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342900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487%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3-Year Net ROI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Total return on technology and integration expenditure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4892040"/>
            <a:ext cx="4297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502920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$6.00M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3-Year Net Cumulative Savings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Tangible cash-flow release directly enhancing trial capacity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ORGANIZATIONAL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Departmental Impact: Breaking Siloes Across the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Every department in the Clinical Trial Application lifecycle experiences immediate operational relief.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23744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52374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249424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Regulatory Affairs Clinical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70% Time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157984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Key Business Benefits: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Instant retrieval of pre-vetted wording on informed consent &amp; protocols.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Eliminates reliance on scattered email threads and offline records.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Standardized tone and regulatory citations across all submissions.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691640"/>
            <a:ext cx="2523744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65576" y="1691640"/>
            <a:ext cx="2523744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783080"/>
            <a:ext cx="2249424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CTA Hub &amp; Submissions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100% SLA Assurance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560320"/>
            <a:ext cx="2157984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Key Business Benefits: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Central tracking of all 650 submissions with live 10-day SLA countdowns.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Zero submissions fall through cracks during vacation or handoffs.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Automated audit trail generation for regulatory inspections.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691640"/>
            <a:ext cx="2523744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691640"/>
            <a:ext cx="2523744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783080"/>
            <a:ext cx="2249424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Quality Assurance (CMC)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Stability &amp; GMP Precedents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560320"/>
            <a:ext cx="2157984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Key Business Benefits: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Reuses pre-approved responses for IMPD shelf-life &amp; packaging queries.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Eliminates redundant technical queries to manufacturing sites.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Reduces query cycles with health authorities by 65%.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91640"/>
            <a:ext cx="2523744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3688" y="1691640"/>
            <a:ext cx="252374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783080"/>
            <a:ext cx="2249424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Local Affiliate Offices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Cross-Country Harmonization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2560320"/>
            <a:ext cx="2157984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Key Business Benefits: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Local affiliates (e.g. Germany, Spain, Italy) leverage global library.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Instant detection of translation discrepancies before filing.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•  Closes the gap between global protocol intent and local NCA needs.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VISIBILITY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Analytics Command Center: Continuous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Real-time visibility into RFI trends, department turnaround bottlenecks, and recurring topic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CTIS SLA Compliance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Zero missed 10-day validation deadlines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7830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36.4%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Identified Redundancy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Over 1/3 of incoming questions are repeats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7830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2.5 Days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Avg. Resolution Time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Down from 8.5+ days manual turnaround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7830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Top Repeating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QA (CMC) &amp; Biostats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Highest frequency of identical inquiries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1663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08960"/>
            <a:ext cx="470916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[GRAPH INSIGHTS] Recurring Question Clustering (Neo4j Graph)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Identifies Systemic Documentation Gaps: Clusters repeating RFIs across indications.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Missing Signature Pattern: 12 occurrences across Germany &amp; France for Investigator CVs.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Translation Discrepancies: 8 occurrences in Spanish Patient Information Sheets (PIS).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IMPD Stability Justification: 15 identical questions regarding secondary packaging shelf-life.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Root-Cause Fix: Alerts clinical teams to fix root document templates before submitting next wave.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926080"/>
            <a:ext cx="51663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3108960"/>
            <a:ext cx="470916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[PERFORMANCE TRACKING] Department Performance &amp; Velocity Tracking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Biostatistics: 24 RFIs resolved, avg. turnaround 18.2 hours (down from 72h).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Quality Assurance (CMC): 42 RFIs handled, 92% instant response reuse rate.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Regulatory Affairs: 65 RFIs resolved, zero regulatory escalation events.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Affiliate Coordination: Turnaround from country affiliate to HQ slashed by 80%.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Management Reporting: Instant executive export for audit and trial governance meetings.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GXP COMPLIANCE &amp; AUDIT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Governance by Design: 9-Dimension ALCOA+ &amp; OPA Policy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Built to satisfy the strictest scrutiny from health authorities, FDA/EMA auditors, and internal GxP QA.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7091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Evidence Integrity Check (Per-Record ALCOA+)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✓  Attributable: </a:t>
            </a:r>
            <a:r>
              <a:rPr b="0">
                <a:solidFill>
                  <a:srgbClr val="64748B"/>
                </a:solidFill>
              </a:rPr>
              <a:t>Every record and status change tied to authenticated user ID.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✓  Legible: </a:t>
            </a:r>
            <a:r>
              <a:rPr b="0">
                <a:solidFill>
                  <a:srgbClr val="64748B"/>
                </a:solidFill>
              </a:rPr>
              <a:t>UTF-8 verified plain text; retrievable and immediately renderable.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✓  Contemporaneous: </a:t>
            </a:r>
            <a:r>
              <a:rPr b="0">
                <a:solidFill>
                  <a:srgbClr val="64748B"/>
                </a:solidFill>
              </a:rPr>
              <a:t>Timestamps recorded at moment of state transition.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✓  Original: </a:t>
            </a:r>
            <a:r>
              <a:rPr b="0">
                <a:solidFill>
                  <a:srgbClr val="64748B"/>
                </a:solidFill>
              </a:rPr>
              <a:t>Preserves immutable raw PDF source reference alongside extraction.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✓  Accurate: </a:t>
            </a:r>
            <a:r>
              <a:rPr b="0">
                <a:solidFill>
                  <a:srgbClr val="64748B"/>
                </a:solidFill>
              </a:rPr>
              <a:t>Extracted fields reconciled against source document metadata.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✓  Complete: </a:t>
            </a:r>
            <a:r>
              <a:rPr b="0">
                <a:solidFill>
                  <a:srgbClr val="64748B"/>
                </a:solidFill>
              </a:rPr>
              <a:t>Enforces non-null required fields via policy rule FIELDS-001.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✓  Consistent: </a:t>
            </a:r>
            <a:r>
              <a:rPr b="0">
                <a:solidFill>
                  <a:srgbClr val="64748B"/>
                </a:solidFill>
              </a:rPr>
              <a:t>Zero orphan keys; verified bridge between Postgres and Neo4j.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✓  Enduring: </a:t>
            </a:r>
            <a:r>
              <a:rPr b="0">
                <a:solidFill>
                  <a:srgbClr val="64748B"/>
                </a:solidFill>
              </a:rPr>
              <a:t>Hard deletes prohibited; records are permanent and append-only.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✓  Available: </a:t>
            </a:r>
            <a:r>
              <a:rPr b="0">
                <a:solidFill>
                  <a:srgbClr val="64748B"/>
                </a:solidFill>
              </a:rPr>
              <a:t>Role-based instantaneous retrieval for authorized audit inspection.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91640"/>
            <a:ext cx="5166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74520"/>
            <a:ext cx="47091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Declarative Policy Engine &amp; Tamper-Proof Log</a:t>
            </a:r>
          </a:p>
          <a:p>
            <a:pPr>
              <a:spcBef>
                <a:spcPts val="700"/>
              </a:spcBef>
              <a:defRPr sz="1050" b="1">
                <a:solidFill>
                  <a:srgbClr val="2563EB"/>
                </a:solidFill>
              </a:defRPr>
            </a:pPr>
            <a:r>
              <a:t>■  Open Policy Agent (OPA / Rego Sidecar)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  • Policy as Code: Compliance logic decoupled from application code.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  • RFI-SLA-001: Flags validation RFIs open &gt; 10 calendar days.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  • RFI-SLA-002: Flags assessment RFIs open &gt; 12 calendar days.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  • ACCESS-001: Enforces multi-tenant ownership boundaries.</a:t>
            </a:r>
          </a:p>
          <a:p>
            <a:pPr>
              <a:spcBef>
                <a:spcPts val="700"/>
              </a:spcBef>
              <a:defRPr sz="1050" b="1">
                <a:solidFill>
                  <a:srgbClr val="2563EB"/>
                </a:solidFill>
              </a:defRPr>
            </a:pPr>
            <a:r>
              <a:t>■  The Inviolable Submission Gate (GATE-001)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  • The submitted status is unreachable in the database without an approved_by identity.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  • Direct API bypass attempts are rejected at the database write layer.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  • 100% human accountability; zero autonomous submission risk.</a:t>
            </a:r>
          </a:p>
          <a:p>
            <a:pPr>
              <a:spcBef>
                <a:spcPts val="700"/>
              </a:spcBef>
              <a:defRPr sz="1050" b="1">
                <a:solidFill>
                  <a:srgbClr val="2563EB"/>
                </a:solidFill>
              </a:defRPr>
            </a:pPr>
            <a:r>
              <a:t>■  Cryptographic SHA-256 Hash Chain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  • Every write computes SHA-256(payload + prev_hash).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  • Any tampering with database rows invalidates the chain instantly.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  • Mathematically verifiable audit history for EMA inspections.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DATA SOVEREIGNTY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Enterprise Privacy: Air-Gapped In-House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Proprietary clinical trial protocols and confidential drug formulations never leave the enterprise firewall.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0156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2944368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[DATA RESIDENCY] 100% On-Premise / VPC LLMs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Self-Hosted Open-Weights: Deploys Qwen 2.5 7B / Llama 3.1 8B via Ollama or vLLM.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Air-Gapped Operation: Completely isolated inside company private cloud or on-premise servers.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Zero Third-Party Training: Proprietary trial data is never passed to external API vendors.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Quantized Efficiency: GGUF 4-bit quantization runs smoothly on commodity enterprise GPU infrastructure.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Configurable Boundary: Config flag (LLM_MODE) allows switching between local and hosted models without code rewrites.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40156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20"/>
            <a:ext cx="2944368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[CYBERSECURITY] Deterministic Safety Gateway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Untrusted Input Boundary: All ingested text from PDFs and queries treated as untrusted content.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OWASP LLM01 Defense: Scans for prompt-injection patterns before text ever reaches model context.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No LLM Self-Policing: Never relies on a generative model to detect prompt manipulation.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Quarantine Routing: Flagged adversarial or corrupt documents automatically routed to human QA queue.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Audited Flagging: Every screening event recorded in the immutable audit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40156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20"/>
            <a:ext cx="2944368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[ACTIVE LEARNING] Continuous Fine-Tuning Loop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Human-in-the-Loop Extraction: Every human edit at the Submission Gate becomes labeled training data.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Extraction Correction Table: Captures corrections to CTR Article tags and MSC mapping automatically.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Periodic LoRA Fine-Tuning: Runs lightweight parameter-efficient fine-tuning on accumulated corrections.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Domain Specialization: Model accuracy continuously adapts to sponsor-specific trial terminology.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 Zero Extra Overhead: Reviewers generate training datasets as a natural byproduct of approving drafts.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IMPLEMENTATION &amp; CHANGE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Deployment Roadmap: Rapid 12-Week Value Realization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non-disruptive, phased integration plan designed for immediate operational wins without system overhaul.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237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52374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9424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Phase 1: Weeks 1–4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Ingestion &amp; Central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157984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Key Milestones &amp; Deliverables: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Deploy PostgreSQL + pgvector schema.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Historical RFI PDF ingestion &amp; schema parsing.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Activate pgvector semantic search.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Deliverable: Unified searchable RFI 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737360"/>
            <a:ext cx="25237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65576" y="1737360"/>
            <a:ext cx="252374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828800"/>
            <a:ext cx="2249424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Phase 2: Weeks 5–8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Graph &amp; Risk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514600"/>
            <a:ext cx="2157984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Key Milestones &amp; Deliverables: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Neo4j Knowledge Graph deployment.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Train scikit-learn risk model with SHAP.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Connect hybrid retrieve-then-enrich API.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Deliverable: Predictive pre-submission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37360"/>
            <a:ext cx="25237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37360"/>
            <a:ext cx="252374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28800"/>
            <a:ext cx="2249424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Phase 3: Weeks 9–12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Governance &amp;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514600"/>
            <a:ext cx="2157984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Key Milestones &amp; Deliverables: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Deploy OPA policy sidecar &amp; Rego rules.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Enforce Submission Gate (GATE-001).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Launch React role-tailored dashboards.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Deliverable: Full production deployment.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737360"/>
            <a:ext cx="25237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3688" y="1737360"/>
            <a:ext cx="25237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828800"/>
            <a:ext cx="2249424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Phase 4: Ongoing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Continuous Evolution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2514600"/>
            <a:ext cx="2157984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Key Milestones &amp; Deliverables: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On-premise fine-tuning (LoRA / Ollama).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Expand OPA rules across non-EEA markets.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Portfolio-level Monte Carlo simulation.</a:t>
            </a:r>
          </a:p>
          <a:p>
            <a:pPr>
              <a:spcBef>
                <a:spcPts val="500"/>
              </a:spcBef>
              <a:defRPr sz="850">
                <a:solidFill>
                  <a:srgbClr val="64748B"/>
                </a:solidFill>
              </a:defRPr>
            </a:pPr>
            <a:r>
              <a:t>•  Deliverable: Autonomous enterprise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315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EXECUTIVE SUMMARY &amp; NEXT STEPS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The Strategic Choice: Firefighting vs. Institutional Memory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ClarION transforms a recurring $2.7M compliance liability into an intelligent, permanent competitive advantage.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3401568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657600"/>
            <a:ext cx="2944368" cy="2560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The Hard Business Return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14,500+ Specialist hours saved annually.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$2.35M In recurring annual operational savings.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4.2-Month Full payback period; 487% 3-year ROI.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Reallocates 8+ FTEs to active pipeline drug launches.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474720"/>
            <a:ext cx="3401568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3657600"/>
            <a:ext cx="2944368" cy="2560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Uncompromising Governance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Zero autonomous submissions (Rule GATE-001).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Declarative OPA Rego policies mathematically enforced.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SHA-256 cryptographic audit logs prevent tampering.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Full explainability via SHAP; 100% GxP defensible.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474720"/>
            <a:ext cx="3401568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657600"/>
            <a:ext cx="2944368" cy="2560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Recommended Immediate Action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Approve 60-day Pilot with EU Submission Hub.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Connect historical RFI repository across top 3 MSCs.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Validate 70% time compression on live validation RFIs.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 Present Pilot outcomes to Executive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